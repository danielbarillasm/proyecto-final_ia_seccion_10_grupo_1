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Inter Bold" charset="1" panose="020B0802030000000004"/>
      <p:regular r:id="rId16"/>
    </p:embeddedFont>
    <p:embeddedFont>
      <p:font typeface="Inter" charset="1" panose="020B0502030000000004"/>
      <p:regular r:id="rId17"/>
    </p:embeddedFont>
    <p:embeddedFont>
      <p:font typeface="Open Sans Bold" charset="1" panose="00000000000000000000"/>
      <p:regular r:id="rId18"/>
    </p:embeddedFont>
    <p:embeddedFont>
      <p:font typeface="Open Sans" charset="1" panose="000000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jpeg" Type="http://schemas.openxmlformats.org/officeDocument/2006/relationships/image"/><Relationship Id="rId4" Target="../media/VAHKpCGAsj8.mp4" Type="http://schemas.openxmlformats.org/officeDocument/2006/relationships/video"/><Relationship Id="rId5" Target="../media/VAHKpCGAsj8.mp4" Type="http://schemas.microsoft.com/office/2007/relationships/media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png" Type="http://schemas.openxmlformats.org/officeDocument/2006/relationships/image"/><Relationship Id="rId4" Target="../media/image16.png" Type="http://schemas.openxmlformats.org/officeDocument/2006/relationships/image"/><Relationship Id="rId5" Target="../media/image1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jpeg" Type="http://schemas.openxmlformats.org/officeDocument/2006/relationships/image"/><Relationship Id="rId3" Target="../media/image1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1.png" Type="http://schemas.openxmlformats.org/officeDocument/2006/relationships/image"/><Relationship Id="rId4" Target="../media/image22.jpeg" Type="http://schemas.openxmlformats.org/officeDocument/2006/relationships/image"/><Relationship Id="rId5" Target="../media/VAHKpHH_8bg.mp4" Type="http://schemas.openxmlformats.org/officeDocument/2006/relationships/video"/><Relationship Id="rId6" Target="../media/VAHKpHH_8bg.mp4" Type="http://schemas.microsoft.com/office/2007/relationships/media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8062" r="0" b="-11909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775020" y="1028700"/>
            <a:ext cx="12737961" cy="8229600"/>
          </a:xfrm>
          <a:custGeom>
            <a:avLst/>
            <a:gdLst/>
            <a:ahLst/>
            <a:cxnLst/>
            <a:rect r="r" b="b" t="t" l="l"/>
            <a:pathLst>
              <a:path h="8229600" w="12737961">
                <a:moveTo>
                  <a:pt x="0" y="0"/>
                </a:moveTo>
                <a:lnTo>
                  <a:pt x="12737960" y="0"/>
                </a:lnTo>
                <a:lnTo>
                  <a:pt x="1273796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9000"/>
            </a:blip>
            <a:stretch>
              <a:fillRect l="-67542" t="-70453" r="-67909" b="-72726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628100" y="1635331"/>
            <a:ext cx="11031800" cy="68829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22"/>
              </a:lnSpc>
            </a:pPr>
            <a:r>
              <a:rPr lang="en-US" b="true" sz="6516" spc="261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 SISTEA HÍBRIDO</a:t>
            </a:r>
          </a:p>
          <a:p>
            <a:pPr algn="ctr">
              <a:lnSpc>
                <a:spcPts val="9122"/>
              </a:lnSpc>
            </a:pPr>
            <a:r>
              <a:rPr lang="en-US" b="true" sz="6516" spc="261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DE PLANIFICACIÓN </a:t>
            </a:r>
          </a:p>
          <a:p>
            <a:pPr algn="ctr">
              <a:lnSpc>
                <a:spcPts val="9122"/>
              </a:lnSpc>
            </a:pPr>
            <a:r>
              <a:rPr lang="en-US" b="true" sz="6516" spc="261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ACADEMICA</a:t>
            </a:r>
          </a:p>
          <a:p>
            <a:pPr algn="ctr">
              <a:lnSpc>
                <a:spcPts val="9122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894938"/>
            <a:ext cx="8450116" cy="6497123"/>
            <a:chOff x="0" y="0"/>
            <a:chExt cx="11266822" cy="8662831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7405" t="0" r="7405" b="0"/>
            <a:stretch>
              <a:fillRect/>
            </a:stretch>
          </p:blipFill>
          <p:spPr>
            <a:xfrm flipH="false" flipV="false">
              <a:off x="0" y="0"/>
              <a:ext cx="11266822" cy="8662831"/>
            </a:xfrm>
            <a:prstGeom prst="rect">
              <a:avLst/>
            </a:prstGeom>
          </p:spPr>
        </p:pic>
      </p:grpSp>
      <p:sp>
        <p:nvSpPr>
          <p:cNvPr name="TextBox 4" id="4"/>
          <p:cNvSpPr txBox="true"/>
          <p:nvPr/>
        </p:nvSpPr>
        <p:spPr>
          <a:xfrm rot="0">
            <a:off x="11946351" y="1558925"/>
            <a:ext cx="5247335" cy="795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 spc="925">
                <a:solidFill>
                  <a:srgbClr val="1F2020"/>
                </a:solidFill>
                <a:latin typeface="Inter"/>
                <a:ea typeface="Inter"/>
                <a:cs typeface="Inter"/>
                <a:sym typeface="Inter"/>
              </a:rPr>
              <a:t>OPEN UNIVERSITY LEARNING ANALYTICS DATASET</a:t>
            </a:r>
          </a:p>
          <a:p>
            <a:pPr algn="l">
              <a:lnSpc>
                <a:spcPts val="7000"/>
              </a:lnSpc>
            </a:pPr>
          </a:p>
          <a:p>
            <a:pPr algn="l">
              <a:lnSpc>
                <a:spcPts val="7000"/>
              </a:lnSpc>
            </a:pPr>
          </a:p>
          <a:p>
            <a:pPr algn="l">
              <a:lnSpc>
                <a:spcPts val="7000"/>
              </a:lnSpc>
            </a:pPr>
          </a:p>
          <a:p>
            <a:pPr algn="l">
              <a:lnSpc>
                <a:spcPts val="7000"/>
              </a:lnSpc>
              <a:spcBef>
                <a:spcPct val="0"/>
              </a:spcBef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8450116" y="8392062"/>
            <a:ext cx="8743570" cy="3614192"/>
          </a:xfrm>
          <a:custGeom>
            <a:avLst/>
            <a:gdLst/>
            <a:ahLst/>
            <a:cxnLst/>
            <a:rect r="r" b="b" t="t" l="l"/>
            <a:pathLst>
              <a:path h="3614192" w="8743570">
                <a:moveTo>
                  <a:pt x="0" y="0"/>
                </a:moveTo>
                <a:lnTo>
                  <a:pt x="8743570" y="0"/>
                </a:lnTo>
                <a:lnTo>
                  <a:pt x="8743570" y="3614192"/>
                </a:lnTo>
                <a:lnTo>
                  <a:pt x="0" y="36141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61181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4658926" cy="8229600"/>
            <a:chOff x="0" y="0"/>
            <a:chExt cx="6211901" cy="10972800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7635" t="0" r="54646" b="0"/>
            <a:stretch>
              <a:fillRect/>
            </a:stretch>
          </p:blipFill>
          <p:spPr>
            <a:xfrm flipH="false" flipV="false">
              <a:off x="0" y="0"/>
              <a:ext cx="6211901" cy="10972800"/>
            </a:xfrm>
            <a:prstGeom prst="rect">
              <a:avLst/>
            </a:prstGeom>
          </p:spPr>
        </p:pic>
      </p:grpSp>
      <p:sp>
        <p:nvSpPr>
          <p:cNvPr name="Freeform 4" id="4"/>
          <p:cNvSpPr/>
          <p:nvPr/>
        </p:nvSpPr>
        <p:spPr>
          <a:xfrm flipH="false" flipV="false" rot="0">
            <a:off x="6916912" y="4166752"/>
            <a:ext cx="10285956" cy="5091548"/>
          </a:xfrm>
          <a:custGeom>
            <a:avLst/>
            <a:gdLst/>
            <a:ahLst/>
            <a:cxnLst/>
            <a:rect r="r" b="b" t="t" l="l"/>
            <a:pathLst>
              <a:path h="5091548" w="10285956">
                <a:moveTo>
                  <a:pt x="0" y="0"/>
                </a:moveTo>
                <a:lnTo>
                  <a:pt x="10285955" y="0"/>
                </a:lnTo>
                <a:lnTo>
                  <a:pt x="10285955" y="5091548"/>
                </a:lnTo>
                <a:lnTo>
                  <a:pt x="0" y="50915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386570" y="4166752"/>
            <a:ext cx="10872730" cy="5300456"/>
          </a:xfrm>
          <a:custGeom>
            <a:avLst/>
            <a:gdLst/>
            <a:ahLst/>
            <a:cxnLst/>
            <a:rect r="r" b="b" t="t" l="l"/>
            <a:pathLst>
              <a:path h="5300456" w="10872730">
                <a:moveTo>
                  <a:pt x="0" y="0"/>
                </a:moveTo>
                <a:lnTo>
                  <a:pt x="10872730" y="0"/>
                </a:lnTo>
                <a:lnTo>
                  <a:pt x="10872730" y="5300456"/>
                </a:lnTo>
                <a:lnTo>
                  <a:pt x="0" y="530045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916912" y="923925"/>
            <a:ext cx="7015401" cy="1749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  <a:spcBef>
                <a:spcPct val="0"/>
              </a:spcBef>
            </a:pPr>
            <a:r>
              <a:rPr lang="en-US" b="true" sz="5000" spc="925">
                <a:solidFill>
                  <a:srgbClr val="1F2020"/>
                </a:solidFill>
                <a:latin typeface="Inter Bold"/>
                <a:ea typeface="Inter Bold"/>
                <a:cs typeface="Inter Bold"/>
                <a:sym typeface="Inter Bold"/>
              </a:rPr>
              <a:t>ESTIMACIÓN DE DEMANDA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20979" y="4904711"/>
            <a:ext cx="9602189" cy="4284977"/>
          </a:xfrm>
          <a:custGeom>
            <a:avLst/>
            <a:gdLst/>
            <a:ahLst/>
            <a:cxnLst/>
            <a:rect r="r" b="b" t="t" l="l"/>
            <a:pathLst>
              <a:path h="4284977" w="9602189">
                <a:moveTo>
                  <a:pt x="0" y="0"/>
                </a:moveTo>
                <a:lnTo>
                  <a:pt x="9602189" y="0"/>
                </a:lnTo>
                <a:lnTo>
                  <a:pt x="9602189" y="4284977"/>
                </a:lnTo>
                <a:lnTo>
                  <a:pt x="0" y="42849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551786" y="4823460"/>
            <a:ext cx="5707514" cy="4434840"/>
          </a:xfrm>
          <a:custGeom>
            <a:avLst/>
            <a:gdLst/>
            <a:ahLst/>
            <a:cxnLst/>
            <a:rect r="r" b="b" t="t" l="l"/>
            <a:pathLst>
              <a:path h="4434840" w="5707514">
                <a:moveTo>
                  <a:pt x="0" y="0"/>
                </a:moveTo>
                <a:lnTo>
                  <a:pt x="5707514" y="0"/>
                </a:lnTo>
                <a:lnTo>
                  <a:pt x="5707514" y="4434840"/>
                </a:lnTo>
                <a:lnTo>
                  <a:pt x="0" y="44348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923925"/>
            <a:ext cx="6083421" cy="1749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  <a:spcBef>
                <a:spcPct val="0"/>
              </a:spcBef>
            </a:pPr>
            <a:r>
              <a:rPr lang="en-US" b="true" sz="5000" spc="925">
                <a:solidFill>
                  <a:srgbClr val="1F2020"/>
                </a:solidFill>
                <a:latin typeface="Inter Bold"/>
                <a:ea typeface="Inter Bold"/>
                <a:cs typeface="Inter Bold"/>
                <a:sym typeface="Inter Bold"/>
              </a:rPr>
              <a:t>APRENDIZAJE SUPERVISADO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3092071"/>
            <a:ext cx="12520262" cy="6166229"/>
          </a:xfrm>
          <a:custGeom>
            <a:avLst/>
            <a:gdLst/>
            <a:ahLst/>
            <a:cxnLst/>
            <a:rect r="r" b="b" t="t" l="l"/>
            <a:pathLst>
              <a:path h="6166229" w="12520262">
                <a:moveTo>
                  <a:pt x="0" y="0"/>
                </a:moveTo>
                <a:lnTo>
                  <a:pt x="12520262" y="0"/>
                </a:lnTo>
                <a:lnTo>
                  <a:pt x="12520262" y="6166229"/>
                </a:lnTo>
                <a:lnTo>
                  <a:pt x="0" y="61662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3015288"/>
            <a:ext cx="12676167" cy="6243012"/>
          </a:xfrm>
          <a:custGeom>
            <a:avLst/>
            <a:gdLst/>
            <a:ahLst/>
            <a:cxnLst/>
            <a:rect r="r" b="b" t="t" l="l"/>
            <a:pathLst>
              <a:path h="6243012" w="12676167">
                <a:moveTo>
                  <a:pt x="0" y="0"/>
                </a:moveTo>
                <a:lnTo>
                  <a:pt x="12676167" y="0"/>
                </a:lnTo>
                <a:lnTo>
                  <a:pt x="12676167" y="6243012"/>
                </a:lnTo>
                <a:lnTo>
                  <a:pt x="0" y="62430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923925"/>
            <a:ext cx="8361437" cy="1749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  <a:spcBef>
                <a:spcPct val="0"/>
              </a:spcBef>
            </a:pPr>
            <a:r>
              <a:rPr lang="en-US" b="true" sz="5000" spc="925">
                <a:solidFill>
                  <a:srgbClr val="1F2020"/>
                </a:solidFill>
                <a:latin typeface="Inter Bold"/>
                <a:ea typeface="Inter Bold"/>
                <a:cs typeface="Inter Bold"/>
                <a:sym typeface="Inter Bold"/>
              </a:rPr>
              <a:t>PREDICCIÓN DE LA DEMANDA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3493928"/>
            <a:ext cx="745776" cy="745776"/>
            <a:chOff x="0" y="0"/>
            <a:chExt cx="270933" cy="2709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0933" cy="270933"/>
            </a:xfrm>
            <a:custGeom>
              <a:avLst/>
              <a:gdLst/>
              <a:ahLst/>
              <a:cxnLst/>
              <a:rect r="r" b="b" t="t" l="l"/>
              <a:pathLst>
                <a:path h="270933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ln w="9525" cap="sq">
              <a:solidFill>
                <a:srgbClr val="1F202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5058152"/>
            <a:ext cx="745776" cy="745776"/>
            <a:chOff x="0" y="0"/>
            <a:chExt cx="270933" cy="2709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70933" cy="270933"/>
            </a:xfrm>
            <a:custGeom>
              <a:avLst/>
              <a:gdLst/>
              <a:ahLst/>
              <a:cxnLst/>
              <a:rect r="r" b="b" t="t" l="l"/>
              <a:pathLst>
                <a:path h="270933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ln w="9525" cap="sq">
              <a:solidFill>
                <a:srgbClr val="1F202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28700" y="6877645"/>
            <a:ext cx="745776" cy="745776"/>
            <a:chOff x="0" y="0"/>
            <a:chExt cx="270933" cy="27093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0933" cy="270933"/>
            </a:xfrm>
            <a:custGeom>
              <a:avLst/>
              <a:gdLst/>
              <a:ahLst/>
              <a:cxnLst/>
              <a:rect r="r" b="b" t="t" l="l"/>
              <a:pathLst>
                <a:path h="270933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ln w="9525" cap="sq">
              <a:solidFill>
                <a:srgbClr val="1F202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7554964" y="3493928"/>
            <a:ext cx="9113632" cy="5764372"/>
          </a:xfrm>
          <a:custGeom>
            <a:avLst/>
            <a:gdLst/>
            <a:ahLst/>
            <a:cxnLst/>
            <a:rect r="r" b="b" t="t" l="l"/>
            <a:pathLst>
              <a:path h="5764372" w="9113632">
                <a:moveTo>
                  <a:pt x="0" y="0"/>
                </a:moveTo>
                <a:lnTo>
                  <a:pt x="9113632" y="0"/>
                </a:lnTo>
                <a:lnTo>
                  <a:pt x="9113632" y="5764372"/>
                </a:lnTo>
                <a:lnTo>
                  <a:pt x="0" y="57643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pic>
        <p:nvPicPr>
          <p:cNvPr name="Picture 12" id="12">
            <a:hlinkClick action="ppaction://media"/>
          </p:cNvPr>
          <p:cNvPicPr>
            <a:picLocks noChangeAspect="true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6250822" y="3227045"/>
            <a:ext cx="10417774" cy="5953014"/>
          </a:xfrm>
          <a:prstGeom prst="rect">
            <a:avLst/>
          </a:prstGeom>
        </p:spPr>
      </p:pic>
      <p:sp>
        <p:nvSpPr>
          <p:cNvPr name="TextBox 13" id="13"/>
          <p:cNvSpPr txBox="true"/>
          <p:nvPr/>
        </p:nvSpPr>
        <p:spPr>
          <a:xfrm rot="0">
            <a:off x="1028700" y="923925"/>
            <a:ext cx="4587505" cy="1749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  <a:spcBef>
                <a:spcPct val="0"/>
              </a:spcBef>
            </a:pPr>
            <a:r>
              <a:rPr lang="en-US" b="true" sz="5000" spc="925">
                <a:solidFill>
                  <a:srgbClr val="1F2020"/>
                </a:solidFill>
                <a:latin typeface="Inter Bold"/>
                <a:ea typeface="Inter Bold"/>
                <a:cs typeface="Inter Bold"/>
                <a:sym typeface="Inter Bold"/>
              </a:rPr>
              <a:t>CSP DE HORARIOS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3649352"/>
            <a:ext cx="745776" cy="396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5"/>
              </a:lnSpc>
              <a:spcBef>
                <a:spcPct val="0"/>
              </a:spcBef>
            </a:pPr>
            <a:r>
              <a:rPr lang="en-US" b="true" sz="2403">
                <a:solidFill>
                  <a:srgbClr val="1F202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4380248"/>
            <a:ext cx="2607372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Secciones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5213576"/>
            <a:ext cx="745776" cy="396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5"/>
              </a:lnSpc>
              <a:spcBef>
                <a:spcPct val="0"/>
              </a:spcBef>
            </a:pPr>
            <a:r>
              <a:rPr lang="en-US" b="true" sz="2403">
                <a:solidFill>
                  <a:srgbClr val="1F202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28700" y="5990192"/>
            <a:ext cx="2607372" cy="407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El producto cartesiano de timeslots, rooms y professors.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28700" y="7033069"/>
            <a:ext cx="745776" cy="396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5"/>
              </a:lnSpc>
              <a:spcBef>
                <a:spcPct val="0"/>
              </a:spcBef>
            </a:pPr>
            <a:r>
              <a:rPr lang="en-US" b="true" sz="2403">
                <a:solidFill>
                  <a:srgbClr val="1F202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28700" y="7956796"/>
            <a:ext cx="2607372" cy="1245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20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Un aula no puede tener dos clases al mismo tiempo.</a:t>
            </a:r>
          </a:p>
          <a:p>
            <a:pPr algn="l">
              <a:lnSpc>
                <a:spcPts val="1680"/>
              </a:lnSpc>
            </a:pPr>
            <a:r>
              <a:rPr lang="en-US" sz="120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Un profesor no puede dictar dos clases al mismo tiempo.</a:t>
            </a:r>
          </a:p>
          <a:p>
            <a:pPr algn="l">
              <a:lnSpc>
                <a:spcPts val="1680"/>
              </a:lnSpc>
            </a:pPr>
            <a:r>
              <a:rPr lang="en-US" sz="120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Un mismo módulo no puede tener dos secciones en el mismo horario.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0">
                <p:cTn fill="hold" display="false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</p:childTnLst>
        </p:cTn>
      </p:par>
    </p:tnLst>
  </p:timing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333183" y="5143500"/>
            <a:ext cx="5365554" cy="4114800"/>
          </a:xfrm>
          <a:custGeom>
            <a:avLst/>
            <a:gdLst/>
            <a:ahLst/>
            <a:cxnLst/>
            <a:rect r="r" b="b" t="t" l="l"/>
            <a:pathLst>
              <a:path h="4114800" w="5365554">
                <a:moveTo>
                  <a:pt x="0" y="0"/>
                </a:moveTo>
                <a:lnTo>
                  <a:pt x="5365554" y="0"/>
                </a:lnTo>
                <a:lnTo>
                  <a:pt x="536555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5143500"/>
            <a:ext cx="5498224" cy="4114800"/>
          </a:xfrm>
          <a:custGeom>
            <a:avLst/>
            <a:gdLst/>
            <a:ahLst/>
            <a:cxnLst/>
            <a:rect r="r" b="b" t="t" l="l"/>
            <a:pathLst>
              <a:path h="4114800" w="5498224">
                <a:moveTo>
                  <a:pt x="0" y="0"/>
                </a:moveTo>
                <a:lnTo>
                  <a:pt x="5498224" y="0"/>
                </a:lnTo>
                <a:lnTo>
                  <a:pt x="549822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801600" y="5143500"/>
            <a:ext cx="5486400" cy="4114800"/>
          </a:xfrm>
          <a:custGeom>
            <a:avLst/>
            <a:gdLst/>
            <a:ahLst/>
            <a:cxnLst/>
            <a:rect r="r" b="b" t="t" l="l"/>
            <a:pathLst>
              <a:path h="4114800" w="5486400">
                <a:moveTo>
                  <a:pt x="0" y="0"/>
                </a:moveTo>
                <a:lnTo>
                  <a:pt x="5486400" y="0"/>
                </a:lnTo>
                <a:lnTo>
                  <a:pt x="54864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28040" y="3772326"/>
            <a:ext cx="18416040" cy="6514674"/>
          </a:xfrm>
          <a:custGeom>
            <a:avLst/>
            <a:gdLst/>
            <a:ahLst/>
            <a:cxnLst/>
            <a:rect r="r" b="b" t="t" l="l"/>
            <a:pathLst>
              <a:path h="6514674" w="18416040">
                <a:moveTo>
                  <a:pt x="0" y="0"/>
                </a:moveTo>
                <a:lnTo>
                  <a:pt x="18416040" y="0"/>
                </a:lnTo>
                <a:lnTo>
                  <a:pt x="18416040" y="6514674"/>
                </a:lnTo>
                <a:lnTo>
                  <a:pt x="0" y="651467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923925"/>
            <a:ext cx="7987260" cy="1749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  <a:spcBef>
                <a:spcPct val="0"/>
              </a:spcBef>
            </a:pPr>
            <a:r>
              <a:rPr lang="en-US" b="true" sz="5000" spc="925">
                <a:solidFill>
                  <a:srgbClr val="1F2020"/>
                </a:solidFill>
                <a:latin typeface="Inter Bold"/>
                <a:ea typeface="Inter Bold"/>
                <a:cs typeface="Inter Bold"/>
                <a:sym typeface="Inter Bold"/>
              </a:rPr>
              <a:t>GESTIÓN DE CONTINGENCIAS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006907" y="0"/>
            <a:ext cx="4281093" cy="10287000"/>
            <a:chOff x="0" y="0"/>
            <a:chExt cx="5708125" cy="13716000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59370" t="0" r="12850" b="0"/>
            <a:stretch>
              <a:fillRect/>
            </a:stretch>
          </p:blipFill>
          <p:spPr>
            <a:xfrm flipH="false" flipV="false">
              <a:off x="0" y="0"/>
              <a:ext cx="5708125" cy="13716000"/>
            </a:xfrm>
            <a:prstGeom prst="rect">
              <a:avLst/>
            </a:prstGeom>
          </p:spPr>
        </p:pic>
      </p:grpSp>
      <p:sp>
        <p:nvSpPr>
          <p:cNvPr name="Freeform 4" id="4"/>
          <p:cNvSpPr/>
          <p:nvPr/>
        </p:nvSpPr>
        <p:spPr>
          <a:xfrm flipH="false" flipV="false" rot="0">
            <a:off x="1028700" y="2771895"/>
            <a:ext cx="12579961" cy="4743210"/>
          </a:xfrm>
          <a:custGeom>
            <a:avLst/>
            <a:gdLst/>
            <a:ahLst/>
            <a:cxnLst/>
            <a:rect r="r" b="b" t="t" l="l"/>
            <a:pathLst>
              <a:path h="4743210" w="12579961">
                <a:moveTo>
                  <a:pt x="0" y="0"/>
                </a:moveTo>
                <a:lnTo>
                  <a:pt x="12579961" y="0"/>
                </a:lnTo>
                <a:lnTo>
                  <a:pt x="12579961" y="4743210"/>
                </a:lnTo>
                <a:lnTo>
                  <a:pt x="0" y="47432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138" t="-11522" r="-8882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923925"/>
            <a:ext cx="7778314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  <a:spcBef>
                <a:spcPct val="0"/>
              </a:spcBef>
            </a:pPr>
            <a:r>
              <a:rPr lang="en-US" b="true" sz="5000" spc="925">
                <a:solidFill>
                  <a:srgbClr val="1F2020"/>
                </a:solidFill>
                <a:latin typeface="Inter Bold"/>
                <a:ea typeface="Inter Bold"/>
                <a:cs typeface="Inter Bold"/>
                <a:sym typeface="Inter Bold"/>
              </a:rPr>
              <a:t>REPLANIFICACIÓN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2348265"/>
            <a:ext cx="13352724" cy="6910035"/>
          </a:xfrm>
          <a:custGeom>
            <a:avLst/>
            <a:gdLst/>
            <a:ahLst/>
            <a:cxnLst/>
            <a:rect r="r" b="b" t="t" l="l"/>
            <a:pathLst>
              <a:path h="6910035" w="13352724">
                <a:moveTo>
                  <a:pt x="0" y="0"/>
                </a:moveTo>
                <a:lnTo>
                  <a:pt x="13352724" y="0"/>
                </a:lnTo>
                <a:lnTo>
                  <a:pt x="13352724" y="6910035"/>
                </a:lnTo>
                <a:lnTo>
                  <a:pt x="0" y="69100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2748847"/>
            <a:ext cx="13352724" cy="6509453"/>
          </a:xfrm>
          <a:custGeom>
            <a:avLst/>
            <a:gdLst/>
            <a:ahLst/>
            <a:cxnLst/>
            <a:rect r="r" b="b" t="t" l="l"/>
            <a:pathLst>
              <a:path h="6509453" w="13352724">
                <a:moveTo>
                  <a:pt x="0" y="0"/>
                </a:moveTo>
                <a:lnTo>
                  <a:pt x="13352724" y="0"/>
                </a:lnTo>
                <a:lnTo>
                  <a:pt x="13352724" y="6509453"/>
                </a:lnTo>
                <a:lnTo>
                  <a:pt x="0" y="65094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pic>
        <p:nvPicPr>
          <p:cNvPr name="Picture 4" id="4">
            <a:hlinkClick action="ppaction://media"/>
          </p:cNvPr>
          <p:cNvPicPr>
            <a:picLocks noChangeAspect="true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4"/>
          <a:srcRect l="0" t="0" r="0" b="0"/>
          <a:stretch>
            <a:fillRect/>
          </a:stretch>
        </p:blipFill>
        <p:spPr>
          <a:xfrm flipH="false" flipV="false" rot="0">
            <a:off x="1028700" y="2136847"/>
            <a:ext cx="13352724" cy="7121453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1028700" y="923925"/>
            <a:ext cx="9562307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000"/>
              </a:lnSpc>
              <a:spcBef>
                <a:spcPct val="0"/>
              </a:spcBef>
            </a:pPr>
            <a:r>
              <a:rPr lang="en-US" b="true" sz="5000" spc="925">
                <a:solidFill>
                  <a:srgbClr val="1F2020"/>
                </a:solidFill>
                <a:latin typeface="Inter Bold"/>
                <a:ea typeface="Inter Bold"/>
                <a:cs typeface="Inter Bold"/>
                <a:sym typeface="Inter Bold"/>
              </a:rPr>
              <a:t>MDP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0">
                <p:cTn fill="hold" display="false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198409" y="1028700"/>
            <a:ext cx="3617741" cy="8229600"/>
            <a:chOff x="0" y="0"/>
            <a:chExt cx="4823655" cy="10972800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65628" t="0" r="1401" b="0"/>
            <a:stretch>
              <a:fillRect/>
            </a:stretch>
          </p:blipFill>
          <p:spPr>
            <a:xfrm flipH="false" flipV="false">
              <a:off x="0" y="0"/>
              <a:ext cx="4823655" cy="10972800"/>
            </a:xfrm>
            <a:prstGeom prst="rect">
              <a:avLst/>
            </a:prstGeom>
          </p:spPr>
        </p:pic>
      </p:grpSp>
      <p:grpSp>
        <p:nvGrpSpPr>
          <p:cNvPr name="Group 4" id="4"/>
          <p:cNvGrpSpPr/>
          <p:nvPr/>
        </p:nvGrpSpPr>
        <p:grpSpPr>
          <a:xfrm rot="0">
            <a:off x="0" y="1028700"/>
            <a:ext cx="6948899" cy="8229600"/>
            <a:chOff x="0" y="0"/>
            <a:chExt cx="9265199" cy="10972800"/>
          </a:xfrm>
        </p:grpSpPr>
        <p:pic>
          <p:nvPicPr>
            <p:cNvPr name="Picture 5" id="5"/>
            <p:cNvPicPr>
              <a:picLocks noChangeAspect="true"/>
            </p:cNvPicPr>
            <p:nvPr/>
          </p:nvPicPr>
          <p:blipFill>
            <a:blip r:embed="rId2"/>
            <a:srcRect l="0" t="0" r="36671" b="0"/>
            <a:stretch>
              <a:fillRect/>
            </a:stretch>
          </p:blipFill>
          <p:spPr>
            <a:xfrm flipH="false" flipV="false">
              <a:off x="0" y="0"/>
              <a:ext cx="9265199" cy="10972800"/>
            </a:xfrm>
            <a:prstGeom prst="rect">
              <a:avLst/>
            </a:prstGeom>
          </p:spPr>
        </p:pic>
      </p:grpSp>
      <p:grpSp>
        <p:nvGrpSpPr>
          <p:cNvPr name="Group 6" id="6"/>
          <p:cNvGrpSpPr/>
          <p:nvPr/>
        </p:nvGrpSpPr>
        <p:grpSpPr>
          <a:xfrm rot="0">
            <a:off x="5582921" y="3830144"/>
            <a:ext cx="12705079" cy="2626711"/>
            <a:chOff x="0" y="0"/>
            <a:chExt cx="3346194" cy="69180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346193" cy="691809"/>
            </a:xfrm>
            <a:custGeom>
              <a:avLst/>
              <a:gdLst/>
              <a:ahLst/>
              <a:cxnLst/>
              <a:rect r="r" b="b" t="t" l="l"/>
              <a:pathLst>
                <a:path h="691809" w="3346193">
                  <a:moveTo>
                    <a:pt x="0" y="0"/>
                  </a:moveTo>
                  <a:lnTo>
                    <a:pt x="3346193" y="0"/>
                  </a:lnTo>
                  <a:lnTo>
                    <a:pt x="3346193" y="691809"/>
                  </a:lnTo>
                  <a:lnTo>
                    <a:pt x="0" y="691809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346194" cy="7299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4709379" y="4047685"/>
            <a:ext cx="12549921" cy="19629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944"/>
              </a:lnSpc>
              <a:spcBef>
                <a:spcPct val="0"/>
              </a:spcBef>
            </a:pPr>
            <a:r>
              <a:rPr lang="en-US" b="true" sz="11388" spc="2106">
                <a:solidFill>
                  <a:srgbClr val="1F2020"/>
                </a:solidFill>
                <a:latin typeface="Inter Bold"/>
                <a:ea typeface="Inter Bold"/>
                <a:cs typeface="Inter Bold"/>
                <a:sym typeface="Inter Bold"/>
              </a:rPr>
              <a:t>¡GRACIAS!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DAHKo7LezJo</dc:identifier>
  <dcterms:modified xsi:type="dcterms:W3CDTF">2011-08-01T06:04:30Z</dcterms:modified>
  <cp:revision>1</cp:revision>
  <dc:title>White Clean Architecture Presentation</dc:title>
</cp:coreProperties>
</file>